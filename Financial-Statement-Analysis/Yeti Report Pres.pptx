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1" d="100"/>
          <a:sy n="161" d="100"/>
        </p:scale>
        <p:origin x="77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241f62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b241f62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b241f621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b241f621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b241f621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b241f621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b241f621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b241f621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b241f621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b241f621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241f621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b241f621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b241f621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b241f621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b241f621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b241f621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8_0)">
  <p:cSld name="Title and body (g3dbbd0a8dc5_8_0)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15_0)">
  <p:cSld name="Title and body (g3dbbd0a8dc5_15_0)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23_0)">
  <p:cSld name="Title and body (g3dbbd0a8dc5_23_0)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30_0)">
  <p:cSld name="Title and body (g3dbbd0a8dc5_30_0)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37_0)">
  <p:cSld name="Title and body (g3dbbd0a8dc5_37_0)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44_0)">
  <p:cSld name="Title and body (g3dbbd0a8dc5_44_0)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51_0)">
  <p:cSld name="Title and body (g3dbbd0a8dc5_51_0)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58_0)">
  <p:cSld name="Title and body (g3dbbd0a8dc5_58_0)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Yeti Report</a:t>
            </a:r>
            <a:endParaRPr dirty="0"/>
          </a:p>
        </p:txBody>
      </p:sp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William Wallace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" name="Google Shape;99;p22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22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Rocks Framework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01" name="Google Shape;101;p22"/>
          <p:cNvGrpSpPr/>
          <p:nvPr/>
        </p:nvGrpSpPr>
        <p:grpSpPr>
          <a:xfrm>
            <a:off x="381000" y="1428722"/>
            <a:ext cx="2000100" cy="3366745"/>
            <a:chOff x="381000" y="1428750"/>
            <a:chExt cx="2000100" cy="3238500"/>
          </a:xfrm>
        </p:grpSpPr>
        <p:sp>
          <p:nvSpPr>
            <p:cNvPr id="102" name="Google Shape;102;p22"/>
            <p:cNvSpPr/>
            <p:nvPr/>
          </p:nvSpPr>
          <p:spPr>
            <a:xfrm>
              <a:off x="3810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EBF9F1"/>
            </a:solidFill>
            <a:ln w="19050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2"/>
            <p:cNvSpPr txBox="1"/>
            <p:nvPr/>
          </p:nvSpPr>
          <p:spPr>
            <a:xfrm>
              <a:off x="5238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Rocks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key decisions that help companies achieve success.</a:t>
              </a:r>
              <a:endParaRPr sz="14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These were the decisions that had the biggest impact on performance, and when these were wrong early on, it showed immediately in the results. </a:t>
              </a:r>
              <a:endPara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04" name="Google Shape;104;p22"/>
          <p:cNvGrpSpPr/>
          <p:nvPr/>
        </p:nvGrpSpPr>
        <p:grpSpPr>
          <a:xfrm>
            <a:off x="2476500" y="1428681"/>
            <a:ext cx="2000100" cy="3366745"/>
            <a:chOff x="2476500" y="1428750"/>
            <a:chExt cx="2000100" cy="3238500"/>
          </a:xfrm>
        </p:grpSpPr>
        <p:sp>
          <p:nvSpPr>
            <p:cNvPr id="105" name="Google Shape;105;p22"/>
            <p:cNvSpPr/>
            <p:nvPr/>
          </p:nvSpPr>
          <p:spPr>
            <a:xfrm>
              <a:off x="24765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2"/>
            <p:cNvSpPr txBox="1"/>
            <p:nvPr/>
          </p:nvSpPr>
          <p:spPr>
            <a:xfrm>
              <a:off x="26193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Gravel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supporting operational decisions.</a:t>
              </a:r>
              <a:endParaRPr sz="14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These decisions didn’t seem as important at first, but they supported the overall strategy and helped improve consistency over time.</a:t>
              </a: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07" name="Google Shape;107;p22"/>
          <p:cNvGrpSpPr/>
          <p:nvPr/>
        </p:nvGrpSpPr>
        <p:grpSpPr>
          <a:xfrm>
            <a:off x="4572000" y="1428748"/>
            <a:ext cx="2000100" cy="3366745"/>
            <a:chOff x="4572000" y="1428750"/>
            <a:chExt cx="2000100" cy="3238500"/>
          </a:xfrm>
        </p:grpSpPr>
        <p:sp>
          <p:nvSpPr>
            <p:cNvPr id="108" name="Google Shape;108;p22"/>
            <p:cNvSpPr/>
            <p:nvPr/>
          </p:nvSpPr>
          <p:spPr>
            <a:xfrm>
              <a:off x="45720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2"/>
            <p:cNvSpPr txBox="1"/>
            <p:nvPr/>
          </p:nvSpPr>
          <p:spPr>
            <a:xfrm>
              <a:off x="47148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Sand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smaller or reactive changes/decisions.</a:t>
              </a:r>
              <a:endParaRPr sz="14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 lot of these were reactive adjustments made based on results, and while they helped short-term, they didn’t drive long-term performance. </a:t>
              </a: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10" name="Google Shape;110;p22"/>
          <p:cNvGrpSpPr/>
          <p:nvPr/>
        </p:nvGrpSpPr>
        <p:grpSpPr>
          <a:xfrm>
            <a:off x="6667500" y="1428748"/>
            <a:ext cx="2000100" cy="3366745"/>
            <a:chOff x="6667500" y="1428750"/>
            <a:chExt cx="2000100" cy="3238500"/>
          </a:xfrm>
        </p:grpSpPr>
        <p:sp>
          <p:nvSpPr>
            <p:cNvPr id="111" name="Google Shape;111;p22"/>
            <p:cNvSpPr/>
            <p:nvPr/>
          </p:nvSpPr>
          <p:spPr>
            <a:xfrm>
              <a:off x="66675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2"/>
            <p:cNvSpPr txBox="1"/>
            <p:nvPr/>
          </p:nvSpPr>
          <p:spPr>
            <a:xfrm>
              <a:off x="68103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Water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Distractions or the less impactful actions.</a:t>
              </a:r>
              <a:endParaRPr sz="14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These were the decisions that took time or resources but didn’t really improve the outcome, especially when not focused on the bigger priorities. </a:t>
              </a: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9" name="Google Shape;119;p23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23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1: Profitability Over Volume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21" name="Google Shape;121;p23"/>
          <p:cNvGrpSpPr/>
          <p:nvPr/>
        </p:nvGrpSpPr>
        <p:grpSpPr>
          <a:xfrm>
            <a:off x="380925" y="1205961"/>
            <a:ext cx="8382150" cy="2510981"/>
            <a:chOff x="381000" y="1524000"/>
            <a:chExt cx="8382150" cy="2667000"/>
          </a:xfrm>
        </p:grpSpPr>
        <p:sp>
          <p:nvSpPr>
            <p:cNvPr id="122" name="Google Shape;122;p23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3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875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Selling more ≠ More Money</a:t>
              </a:r>
              <a:endParaRPr sz="16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5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Low margin decisions hurt long term performance</a:t>
              </a:r>
              <a:endParaRPr sz="16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4" name="Google Shape;124;p23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3"/>
            <p:cNvSpPr txBox="1"/>
            <p:nvPr/>
          </p:nvSpPr>
          <p:spPr>
            <a:xfrm>
              <a:off x="485775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Private label produced lower margins, causing lower capacity without improving profits.</a:t>
              </a:r>
              <a:endParaRPr sz="1500" b="0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Learning this early on when focused more on volume, it actually ended up hurting margins instead of improving performance. </a:t>
              </a:r>
              <a:endParaRPr sz="1500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26" name="Google Shape;126;p23"/>
          <p:cNvSpPr txBox="1"/>
          <p:nvPr/>
        </p:nvSpPr>
        <p:spPr>
          <a:xfrm>
            <a:off x="336225" y="3970250"/>
            <a:ext cx="82422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we should prioritize this: This rock ensures sustainability in the long-term for the business, creates cash flow for reinvestment, and it’ll protect against economic downturns.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3" name="Google Shape;133;p24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24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2: Production Must Match Demand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35" name="Google Shape;135;p24"/>
          <p:cNvGrpSpPr/>
          <p:nvPr/>
        </p:nvGrpSpPr>
        <p:grpSpPr>
          <a:xfrm>
            <a:off x="381000" y="1215070"/>
            <a:ext cx="4095900" cy="2898229"/>
            <a:chOff x="381000" y="1524000"/>
            <a:chExt cx="4095900" cy="2667000"/>
          </a:xfrm>
        </p:grpSpPr>
        <p:sp>
          <p:nvSpPr>
            <p:cNvPr id="136" name="Google Shape;136;p24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4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68300" algn="l" rtl="0">
                <a:spcBef>
                  <a:spcPts val="1875"/>
                </a:spcBef>
                <a:spcAft>
                  <a:spcPts val="0"/>
                </a:spcAft>
                <a:buClr>
                  <a:srgbClr val="202729"/>
                </a:buClr>
                <a:buSzPts val="22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Overproduction = excess inventory + costs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68300" algn="l" rtl="0">
                <a:spcBef>
                  <a:spcPts val="750"/>
                </a:spcBef>
                <a:spcAft>
                  <a:spcPts val="0"/>
                </a:spcAft>
                <a:buClr>
                  <a:srgbClr val="202729"/>
                </a:buClr>
                <a:buSzPts val="22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Underproduction = lost sales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68300" algn="l" rtl="0">
                <a:spcBef>
                  <a:spcPts val="750"/>
                </a:spcBef>
                <a:spcAft>
                  <a:spcPts val="0"/>
                </a:spcAft>
                <a:buClr>
                  <a:srgbClr val="202729"/>
                </a:buClr>
                <a:buSzPts val="22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Distribution must match supply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38" name="Google Shape;138;p24"/>
          <p:cNvGrpSpPr/>
          <p:nvPr/>
        </p:nvGrpSpPr>
        <p:grpSpPr>
          <a:xfrm>
            <a:off x="4667100" y="1215070"/>
            <a:ext cx="4095900" cy="2898229"/>
            <a:chOff x="4667250" y="1524000"/>
            <a:chExt cx="4095900" cy="2667000"/>
          </a:xfrm>
        </p:grpSpPr>
        <p:sp>
          <p:nvSpPr>
            <p:cNvPr id="139" name="Google Shape;139;p24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4"/>
            <p:cNvSpPr txBox="1"/>
            <p:nvPr/>
          </p:nvSpPr>
          <p:spPr>
            <a:xfrm>
              <a:off x="4857750" y="1714500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Having excess inventory in multiple regions because of poor shipment allocation.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Seeing this happen when inventory didn’t line up with demand across regions, made allocation decisions more important than initially expected.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41" name="Google Shape;141;p24"/>
          <p:cNvSpPr txBox="1"/>
          <p:nvPr/>
        </p:nvSpPr>
        <p:spPr>
          <a:xfrm>
            <a:off x="381000" y="4141349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72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Why we should prioritize this:</a:t>
            </a:r>
            <a:r>
              <a:rPr lang="en" sz="1500">
                <a:solidFill>
                  <a:srgbClr val="61616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 This directly impacts a company’s profitability, operational efficiency, and customer satisfaction. When production aligns with demand, costs of overproduction are avoided and the risk of underproduction is minimized.</a:t>
            </a:r>
            <a:endParaRPr sz="1500">
              <a:solidFill>
                <a:srgbClr val="61616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8" name="Google Shape;148;p25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25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3: Cost Control Drives Competitiveness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50" name="Google Shape;150;p25"/>
          <p:cNvGrpSpPr/>
          <p:nvPr/>
        </p:nvGrpSpPr>
        <p:grpSpPr>
          <a:xfrm>
            <a:off x="381000" y="1238250"/>
            <a:ext cx="4095900" cy="2762250"/>
            <a:chOff x="381000" y="1238250"/>
            <a:chExt cx="4095900" cy="2762250"/>
          </a:xfrm>
        </p:grpSpPr>
        <p:sp>
          <p:nvSpPr>
            <p:cNvPr id="151" name="Google Shape;151;p25"/>
            <p:cNvSpPr/>
            <p:nvPr/>
          </p:nvSpPr>
          <p:spPr>
            <a:xfrm>
              <a:off x="381000" y="123825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5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8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Labor, materials, and logistics matter</a:t>
              </a:r>
              <a:endParaRPr sz="16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5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Small inefficiencies scale quickly</a:t>
              </a:r>
              <a:endParaRPr sz="16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5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Production location impact costs</a:t>
              </a:r>
              <a:endParaRPr sz="16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53" name="Google Shape;153;p25"/>
          <p:cNvGrpSpPr/>
          <p:nvPr/>
        </p:nvGrpSpPr>
        <p:grpSpPr>
          <a:xfrm>
            <a:off x="4667100" y="1238250"/>
            <a:ext cx="4095900" cy="2667000"/>
            <a:chOff x="4667250" y="1524000"/>
            <a:chExt cx="4095900" cy="2667000"/>
          </a:xfrm>
        </p:grpSpPr>
        <p:sp>
          <p:nvSpPr>
            <p:cNvPr id="154" name="Google Shape;154;p25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5"/>
            <p:cNvSpPr txBox="1"/>
            <p:nvPr/>
          </p:nvSpPr>
          <p:spPr>
            <a:xfrm>
              <a:off x="485775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Production in only Asia-Pacific increased shipping costs in the other regions.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Realizing this as shipping costs started adding up, especially when production was too concentrated in one region.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56" name="Google Shape;156;p25"/>
          <p:cNvSpPr txBox="1"/>
          <p:nvPr/>
        </p:nvSpPr>
        <p:spPr>
          <a:xfrm>
            <a:off x="336250" y="4000500"/>
            <a:ext cx="79152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should we prioritize this: This rock determines how well your company can do in a volatile market. You can have lower pricing power, market share growth, and agility in volatile 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3" name="Google Shape;163;p26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4: Intentional Pricing Strategy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65" name="Google Shape;165;p26"/>
          <p:cNvGrpSpPr/>
          <p:nvPr/>
        </p:nvGrpSpPr>
        <p:grpSpPr>
          <a:xfrm>
            <a:off x="381000" y="1278650"/>
            <a:ext cx="4095900" cy="2667000"/>
            <a:chOff x="381000" y="1524000"/>
            <a:chExt cx="4095900" cy="2667000"/>
          </a:xfrm>
        </p:grpSpPr>
        <p:sp>
          <p:nvSpPr>
            <p:cNvPr id="166" name="Google Shape;166;p26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6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Price affects demand AND margin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Too high -&gt; lose shares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Too low -&gt; lose profit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Must balance with competitors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68" name="Google Shape;168;p26"/>
          <p:cNvGrpSpPr/>
          <p:nvPr/>
        </p:nvGrpSpPr>
        <p:grpSpPr>
          <a:xfrm>
            <a:off x="4667250" y="1278650"/>
            <a:ext cx="4095900" cy="2667000"/>
            <a:chOff x="4667250" y="1278650"/>
            <a:chExt cx="4095900" cy="2667000"/>
          </a:xfrm>
        </p:grpSpPr>
        <p:sp>
          <p:nvSpPr>
            <p:cNvPr id="169" name="Google Shape;169;p26"/>
            <p:cNvSpPr/>
            <p:nvPr/>
          </p:nvSpPr>
          <p:spPr>
            <a:xfrm>
              <a:off x="4667250" y="127865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 txBox="1"/>
            <p:nvPr/>
          </p:nvSpPr>
          <p:spPr>
            <a:xfrm>
              <a:off x="4857750" y="1496575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Lowering internet costs improved projected demand, but needed more balance in margins.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Pricing had to be adjusted multiple times to find the balance between increasing demand and maintaining strong margins. 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71" name="Google Shape;171;p26"/>
          <p:cNvSpPr txBox="1"/>
          <p:nvPr/>
        </p:nvSpPr>
        <p:spPr>
          <a:xfrm>
            <a:off x="318050" y="4098450"/>
            <a:ext cx="85332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should we prioritize this: An Intentional Pricing Strategy rock is crucial because price has the biggest impact on profitability. Even a small price increase potentially can boost net income by 10% or more</a:t>
            </a:r>
            <a:endParaRPr sz="17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8" name="Google Shape;178;p27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27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5: Marketing Supports Strategy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80" name="Google Shape;180;p27"/>
          <p:cNvGrpSpPr/>
          <p:nvPr/>
        </p:nvGrpSpPr>
        <p:grpSpPr>
          <a:xfrm>
            <a:off x="381000" y="1242300"/>
            <a:ext cx="4095900" cy="2857500"/>
            <a:chOff x="381000" y="1524000"/>
            <a:chExt cx="4095900" cy="2857500"/>
          </a:xfrm>
        </p:grpSpPr>
        <p:sp>
          <p:nvSpPr>
            <p:cNvPr id="181" name="Google Shape;181;p27"/>
            <p:cNvSpPr/>
            <p:nvPr/>
          </p:nvSpPr>
          <p:spPr>
            <a:xfrm>
              <a:off x="38100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571500" y="17145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Advertising + search engine advertising speed matters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Free shipping increases conversions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Must align with pricing + S/Q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83" name="Google Shape;183;p27"/>
          <p:cNvGrpSpPr/>
          <p:nvPr/>
        </p:nvGrpSpPr>
        <p:grpSpPr>
          <a:xfrm>
            <a:off x="4667100" y="1242300"/>
            <a:ext cx="4095900" cy="2857500"/>
            <a:chOff x="4667250" y="1524000"/>
            <a:chExt cx="4095900" cy="2857500"/>
          </a:xfrm>
        </p:grpSpPr>
        <p:sp>
          <p:nvSpPr>
            <p:cNvPr id="184" name="Google Shape;184;p27"/>
            <p:cNvSpPr/>
            <p:nvPr/>
          </p:nvSpPr>
          <p:spPr>
            <a:xfrm>
              <a:off x="466725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7"/>
            <p:cNvSpPr txBox="1"/>
            <p:nvPr/>
          </p:nvSpPr>
          <p:spPr>
            <a:xfrm>
              <a:off x="4857750" y="17145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Increasing the search engine spend + free shipping improved the projected market share</a:t>
              </a: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showed that marketing was most effective when it aligned with pricing and product quality decisions.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86" name="Google Shape;186;p27"/>
          <p:cNvSpPr txBox="1"/>
          <p:nvPr/>
        </p:nvSpPr>
        <p:spPr>
          <a:xfrm>
            <a:off x="381000" y="4099800"/>
            <a:ext cx="87240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Why should we prioritize this: We should prioritize this because marketing efforts directly drive business growth. Having this strategy reduces wasting resources on disconnected tactics.</a:t>
            </a:r>
            <a:endParaRPr sz="1800">
              <a:solidFill>
                <a:schemeClr val="accent3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" name="Google Shape;193;p28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6: Core Business Focus First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95" name="Google Shape;195;p28"/>
          <p:cNvGrpSpPr/>
          <p:nvPr/>
        </p:nvGrpSpPr>
        <p:grpSpPr>
          <a:xfrm>
            <a:off x="381000" y="1224100"/>
            <a:ext cx="4095900" cy="2857500"/>
            <a:chOff x="381000" y="1524000"/>
            <a:chExt cx="4095900" cy="2857500"/>
          </a:xfrm>
        </p:grpSpPr>
        <p:sp>
          <p:nvSpPr>
            <p:cNvPr id="196" name="Google Shape;196;p28"/>
            <p:cNvSpPr/>
            <p:nvPr/>
          </p:nvSpPr>
          <p:spPr>
            <a:xfrm>
              <a:off x="38100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 txBox="1"/>
            <p:nvPr/>
          </p:nvSpPr>
          <p:spPr>
            <a:xfrm>
              <a:off x="571500" y="1714500"/>
              <a:ext cx="3714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Don’t overextend too early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Private label ≠ always worth it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Fix the core profitability first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98" name="Google Shape;198;p28"/>
          <p:cNvGrpSpPr/>
          <p:nvPr/>
        </p:nvGrpSpPr>
        <p:grpSpPr>
          <a:xfrm>
            <a:off x="4667100" y="1224100"/>
            <a:ext cx="4095900" cy="2857500"/>
            <a:chOff x="4667250" y="1524000"/>
            <a:chExt cx="4095900" cy="2857500"/>
          </a:xfrm>
        </p:grpSpPr>
        <p:sp>
          <p:nvSpPr>
            <p:cNvPr id="199" name="Google Shape;199;p28"/>
            <p:cNvSpPr/>
            <p:nvPr/>
          </p:nvSpPr>
          <p:spPr>
            <a:xfrm>
              <a:off x="466725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 txBox="1"/>
            <p:nvPr/>
          </p:nvSpPr>
          <p:spPr>
            <a:xfrm>
              <a:off x="4857750" y="1714500"/>
              <a:ext cx="3714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Investing in private label too early instead of fixing branded profitability in earlier stages was detrimental.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highlighted that focusing on core operations first leads to more stable and effective decision-making.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01" name="Google Shape;201;p28"/>
          <p:cNvSpPr txBox="1"/>
          <p:nvPr/>
        </p:nvSpPr>
        <p:spPr>
          <a:xfrm>
            <a:off x="236275" y="4081600"/>
            <a:ext cx="70428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we should prioritize this: A core business focus will drive clarity in the business, boost productivity overall, and ensure that there is not only short-term, but also long term business success.</a:t>
            </a:r>
            <a:endParaRPr sz="17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" name="Google Shape;208;p29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81000" y="238125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Takeaways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10" name="Google Shape;210;p29"/>
          <p:cNvGrpSpPr/>
          <p:nvPr/>
        </p:nvGrpSpPr>
        <p:grpSpPr>
          <a:xfrm>
            <a:off x="381000" y="1338669"/>
            <a:ext cx="4095900" cy="1034129"/>
            <a:chOff x="381000" y="1428750"/>
            <a:chExt cx="4095900" cy="952500"/>
          </a:xfrm>
        </p:grpSpPr>
        <p:sp>
          <p:nvSpPr>
            <p:cNvPr id="211" name="Google Shape;211;p29"/>
            <p:cNvSpPr/>
            <p:nvPr/>
          </p:nvSpPr>
          <p:spPr>
            <a:xfrm>
              <a:off x="381000" y="1428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571500" y="1670743"/>
              <a:ext cx="3714900" cy="7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PRIORITIZE VALUE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Profitability &gt; Growth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Focusing on value over volume leads to stronger long-term results.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13" name="Google Shape;213;p29"/>
          <p:cNvGrpSpPr/>
          <p:nvPr/>
        </p:nvGrpSpPr>
        <p:grpSpPr>
          <a:xfrm>
            <a:off x="4667250" y="1347090"/>
            <a:ext cx="4095900" cy="1034225"/>
            <a:chOff x="4667250" y="1428750"/>
            <a:chExt cx="4095900" cy="952500"/>
          </a:xfrm>
        </p:grpSpPr>
        <p:sp>
          <p:nvSpPr>
            <p:cNvPr id="214" name="Google Shape;214;p29"/>
            <p:cNvSpPr/>
            <p:nvPr/>
          </p:nvSpPr>
          <p:spPr>
            <a:xfrm>
              <a:off x="4667250" y="1428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9"/>
            <p:cNvSpPr txBox="1"/>
            <p:nvPr/>
          </p:nvSpPr>
          <p:spPr>
            <a:xfrm>
              <a:off x="4857750" y="1495955"/>
              <a:ext cx="3714900" cy="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STRATEGIC COHESION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Alignment across decisions is critical.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Decisions are most effective when they consistently support the overall strategy.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16" name="Google Shape;216;p29"/>
          <p:cNvGrpSpPr/>
          <p:nvPr/>
        </p:nvGrpSpPr>
        <p:grpSpPr>
          <a:xfrm>
            <a:off x="381000" y="2489776"/>
            <a:ext cx="4095900" cy="1034472"/>
            <a:chOff x="381000" y="2571522"/>
            <a:chExt cx="4095900" cy="952728"/>
          </a:xfrm>
        </p:grpSpPr>
        <p:sp>
          <p:nvSpPr>
            <p:cNvPr id="217" name="Google Shape;217;p29"/>
            <p:cNvSpPr/>
            <p:nvPr/>
          </p:nvSpPr>
          <p:spPr>
            <a:xfrm>
              <a:off x="381000" y="2571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9"/>
            <p:cNvSpPr txBox="1"/>
            <p:nvPr/>
          </p:nvSpPr>
          <p:spPr>
            <a:xfrm>
              <a:off x="571500" y="2571522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CUMULATIVE IMPACT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Small decisions add up quick.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Even small inefficiencies can significantly impact overall performance over time.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19" name="Google Shape;219;p29"/>
          <p:cNvGrpSpPr/>
          <p:nvPr/>
        </p:nvGrpSpPr>
        <p:grpSpPr>
          <a:xfrm>
            <a:off x="4667250" y="2490024"/>
            <a:ext cx="4095900" cy="1034225"/>
            <a:chOff x="4667250" y="2571750"/>
            <a:chExt cx="4095900" cy="952500"/>
          </a:xfrm>
        </p:grpSpPr>
        <p:sp>
          <p:nvSpPr>
            <p:cNvPr id="220" name="Google Shape;220;p29"/>
            <p:cNvSpPr/>
            <p:nvPr/>
          </p:nvSpPr>
          <p:spPr>
            <a:xfrm>
              <a:off x="4667250" y="2571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9"/>
            <p:cNvSpPr txBox="1"/>
            <p:nvPr/>
          </p:nvSpPr>
          <p:spPr>
            <a:xfrm>
              <a:off x="4857750" y="2571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EFFICIENCY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Focus on big drivers first.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Prioritizing key cost and operational drivers improves overall efficiency.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22" name="Google Shape;222;p29"/>
          <p:cNvGrpSpPr/>
          <p:nvPr/>
        </p:nvGrpSpPr>
        <p:grpSpPr>
          <a:xfrm>
            <a:off x="381000" y="3714750"/>
            <a:ext cx="8382000" cy="1143000"/>
            <a:chOff x="381000" y="3714750"/>
            <a:chExt cx="8382000" cy="952500"/>
          </a:xfrm>
        </p:grpSpPr>
        <p:sp>
          <p:nvSpPr>
            <p:cNvPr id="223" name="Google Shape;223;p29"/>
            <p:cNvSpPr/>
            <p:nvPr/>
          </p:nvSpPr>
          <p:spPr>
            <a:xfrm>
              <a:off x="381000" y="3714750"/>
              <a:ext cx="8382000" cy="952500"/>
            </a:xfrm>
            <a:prstGeom prst="roundRect">
              <a:avLst>
                <a:gd name="adj" fmla="val 8000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9"/>
            <p:cNvSpPr txBox="1"/>
            <p:nvPr/>
          </p:nvSpPr>
          <p:spPr>
            <a:xfrm>
              <a:off x="571500" y="371475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KEY INSIGHT</a:t>
              </a:r>
              <a:endParaRPr sz="14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Early misprioritization leads to weak performance, but improving focus leads to better decision quality.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Improved prioritization leads to more consistent and effective decision-making.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Macintosh PowerPoint</Application>
  <PresentationFormat>On-screen Show (16:9)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Proxima Nova</vt:lpstr>
      <vt:lpstr>Spearmint</vt:lpstr>
      <vt:lpstr>Yeti Report</vt:lpstr>
      <vt:lpstr>PowerPoint Presentation</vt:lpstr>
      <vt:lpstr>PowerPoint Presentation</vt:lpstr>
      <vt:lpstr>PowerPoint Presentation</vt:lpstr>
      <vt:lpstr>PowerPoint Presentation</vt:lpstr>
      <vt:lpstr>Rock 4: Intentional Pricing Strategy</vt:lpstr>
      <vt:lpstr>PowerPoint Presentation</vt:lpstr>
      <vt:lpstr>Rock 6: Core Business Focus First</vt:lpstr>
      <vt:lpstr>The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Wallace, George</cp:lastModifiedBy>
  <cp:revision>2</cp:revision>
  <dcterms:modified xsi:type="dcterms:W3CDTF">2026-06-25T23:26:31Z</dcterms:modified>
</cp:coreProperties>
</file>